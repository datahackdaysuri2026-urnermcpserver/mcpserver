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7104063" cy="102346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>
              <a:lnSpc>
                <a:spcPct val="90000"/>
              </a:lnSpc>
            </a:pPr>
            <a:r>
              <a:rPr lang="de-CH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move the slide</a:t>
            </a:r>
            <a:endParaRPr lang="de-CH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dt" idx="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ftr" idx="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6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5107579-758A-4B35-A8B5-5D3E8DDA0A6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480960" y="1278000"/>
            <a:ext cx="6141600" cy="3454200"/>
          </a:xfrm>
          <a:prstGeom prst="rect">
            <a:avLst/>
          </a:prstGeom>
          <a:ln w="0">
            <a:noFill/>
          </a:ln>
        </p:spPr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10280" y="4925520"/>
            <a:ext cx="5682960" cy="4029480"/>
          </a:xfrm>
          <a:prstGeom prst="rect">
            <a:avLst/>
          </a:prstGeom>
          <a:noFill/>
          <a:ln w="0">
            <a:noFill/>
          </a:ln>
        </p:spPr>
        <p:txBody>
          <a:bodyPr lIns="95400" tIns="47880" rIns="95400" bIns="4788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7"/>
          </p:nvPr>
        </p:nvSpPr>
        <p:spPr>
          <a:xfrm>
            <a:off x="4024080" y="9721080"/>
            <a:ext cx="3078000" cy="513000"/>
          </a:xfrm>
          <a:prstGeom prst="rect">
            <a:avLst/>
          </a:prstGeom>
          <a:noFill/>
          <a:ln w="0">
            <a:noFill/>
          </a:ln>
        </p:spPr>
        <p:txBody>
          <a:bodyPr lIns="95400" tIns="47880" rIns="95400" bIns="4788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CH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94FEBE-567F-4B38-9A49-768F0AFDA374}" type="slidenum">
              <a:rPr lang="de-CH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Img"/>
          </p:nvPr>
        </p:nvSpPr>
        <p:spPr>
          <a:xfrm>
            <a:off x="480960" y="1278000"/>
            <a:ext cx="6141600" cy="3454200"/>
          </a:xfrm>
          <a:prstGeom prst="rect">
            <a:avLst/>
          </a:prstGeom>
          <a:ln w="0">
            <a:noFill/>
          </a:ln>
        </p:spPr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710280" y="4925520"/>
            <a:ext cx="5682960" cy="4029480"/>
          </a:xfrm>
          <a:prstGeom prst="rect">
            <a:avLst/>
          </a:prstGeom>
          <a:noFill/>
          <a:ln w="0">
            <a:noFill/>
          </a:ln>
        </p:spPr>
        <p:txBody>
          <a:bodyPr lIns="95400" tIns="47880" rIns="95400" bIns="4788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18"/>
          </p:nvPr>
        </p:nvSpPr>
        <p:spPr>
          <a:xfrm>
            <a:off x="4024080" y="9721080"/>
            <a:ext cx="3078000" cy="513000"/>
          </a:xfrm>
          <a:prstGeom prst="rect">
            <a:avLst/>
          </a:prstGeom>
          <a:noFill/>
          <a:ln w="0">
            <a:noFill/>
          </a:ln>
        </p:spPr>
        <p:txBody>
          <a:bodyPr lIns="95400" tIns="47880" rIns="95400" bIns="4788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CH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E9C15A-A406-4888-8903-18009640BA50}" type="slidenum">
              <a:rPr lang="de-CH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sldImg"/>
          </p:nvPr>
        </p:nvSpPr>
        <p:spPr>
          <a:xfrm>
            <a:off x="480960" y="1278000"/>
            <a:ext cx="6141600" cy="3454200"/>
          </a:xfrm>
          <a:prstGeom prst="rect">
            <a:avLst/>
          </a:prstGeom>
          <a:ln w="0">
            <a:noFill/>
          </a:ln>
        </p:spPr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710280" y="4925520"/>
            <a:ext cx="5682960" cy="4029480"/>
          </a:xfrm>
          <a:prstGeom prst="rect">
            <a:avLst/>
          </a:prstGeom>
          <a:noFill/>
          <a:ln w="0">
            <a:noFill/>
          </a:ln>
        </p:spPr>
        <p:txBody>
          <a:bodyPr lIns="95400" tIns="47880" rIns="95400" bIns="4788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sldNum" idx="19"/>
          </p:nvPr>
        </p:nvSpPr>
        <p:spPr>
          <a:xfrm>
            <a:off x="4024080" y="9721080"/>
            <a:ext cx="3078000" cy="513000"/>
          </a:xfrm>
          <a:prstGeom prst="rect">
            <a:avLst/>
          </a:prstGeom>
          <a:noFill/>
          <a:ln w="0">
            <a:noFill/>
          </a:ln>
        </p:spPr>
        <p:txBody>
          <a:bodyPr lIns="95400" tIns="47880" rIns="95400" bIns="4788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CH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BE6A114-11C4-4924-9AEA-57D15B8B4563}" type="slidenum">
              <a:rPr lang="de-CH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Img"/>
          </p:nvPr>
        </p:nvSpPr>
        <p:spPr>
          <a:xfrm>
            <a:off x="480960" y="1278000"/>
            <a:ext cx="6141600" cy="3454200"/>
          </a:xfrm>
          <a:prstGeom prst="rect">
            <a:avLst/>
          </a:prstGeom>
          <a:ln w="0">
            <a:noFill/>
          </a:ln>
        </p:spPr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10280" y="4925520"/>
            <a:ext cx="5682960" cy="4029480"/>
          </a:xfrm>
          <a:prstGeom prst="rect">
            <a:avLst/>
          </a:prstGeom>
          <a:noFill/>
          <a:ln w="0">
            <a:noFill/>
          </a:ln>
        </p:spPr>
        <p:txBody>
          <a:bodyPr lIns="95400" tIns="47880" rIns="95400" bIns="4788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0"/>
          </p:nvPr>
        </p:nvSpPr>
        <p:spPr>
          <a:xfrm>
            <a:off x="4024080" y="9721080"/>
            <a:ext cx="3078000" cy="513000"/>
          </a:xfrm>
          <a:prstGeom prst="rect">
            <a:avLst/>
          </a:prstGeom>
          <a:noFill/>
          <a:ln w="0">
            <a:noFill/>
          </a:ln>
        </p:spPr>
        <p:txBody>
          <a:bodyPr lIns="95400" tIns="47880" rIns="95400" bIns="4788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CH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18FE26-49B4-4B02-B647-7341E384568C}" type="slidenum">
              <a:rPr lang="de-CH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ldImg"/>
          </p:nvPr>
        </p:nvSpPr>
        <p:spPr>
          <a:xfrm>
            <a:off x="480960" y="1278000"/>
            <a:ext cx="6141600" cy="3454200"/>
          </a:xfrm>
          <a:prstGeom prst="rect">
            <a:avLst/>
          </a:prstGeom>
          <a:ln w="0">
            <a:noFill/>
          </a:ln>
        </p:spPr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710280" y="4925520"/>
            <a:ext cx="5682960" cy="4029480"/>
          </a:xfrm>
          <a:prstGeom prst="rect">
            <a:avLst/>
          </a:prstGeom>
          <a:noFill/>
          <a:ln w="0">
            <a:noFill/>
          </a:ln>
        </p:spPr>
        <p:txBody>
          <a:bodyPr lIns="95400" tIns="47880" rIns="95400" bIns="4788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21"/>
          </p:nvPr>
        </p:nvSpPr>
        <p:spPr>
          <a:xfrm>
            <a:off x="4024080" y="9721080"/>
            <a:ext cx="3078000" cy="513000"/>
          </a:xfrm>
          <a:prstGeom prst="rect">
            <a:avLst/>
          </a:prstGeom>
          <a:noFill/>
          <a:ln w="0">
            <a:noFill/>
          </a:ln>
        </p:spPr>
        <p:txBody>
          <a:bodyPr lIns="95400" tIns="47880" rIns="95400" bIns="4788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CH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70ADBE-4E49-4B38-834C-D927C9AE24EF}" type="slidenum">
              <a:rPr lang="de-CH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ldImg"/>
          </p:nvPr>
        </p:nvSpPr>
        <p:spPr>
          <a:xfrm>
            <a:off x="480960" y="1278000"/>
            <a:ext cx="6141600" cy="3454200"/>
          </a:xfrm>
          <a:prstGeom prst="rect">
            <a:avLst/>
          </a:prstGeom>
          <a:ln w="0">
            <a:noFill/>
          </a:ln>
        </p:spPr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710280" y="4925520"/>
            <a:ext cx="5682960" cy="4029480"/>
          </a:xfrm>
          <a:prstGeom prst="rect">
            <a:avLst/>
          </a:prstGeom>
          <a:noFill/>
          <a:ln w="0">
            <a:noFill/>
          </a:ln>
        </p:spPr>
        <p:txBody>
          <a:bodyPr lIns="95400" tIns="47880" rIns="95400" bIns="4788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22"/>
          </p:nvPr>
        </p:nvSpPr>
        <p:spPr>
          <a:xfrm>
            <a:off x="4024080" y="9721080"/>
            <a:ext cx="3078000" cy="513000"/>
          </a:xfrm>
          <a:prstGeom prst="rect">
            <a:avLst/>
          </a:prstGeom>
          <a:noFill/>
          <a:ln w="0">
            <a:noFill/>
          </a:ln>
        </p:spPr>
        <p:txBody>
          <a:bodyPr lIns="95400" tIns="47880" rIns="95400" bIns="4788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CH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F9CA73-E7D5-4FF8-B917-F72EAD0FA832}" type="slidenum">
              <a:rPr lang="de-CH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480960" y="1278000"/>
            <a:ext cx="6141600" cy="3454200"/>
          </a:xfrm>
          <a:prstGeom prst="rect">
            <a:avLst/>
          </a:prstGeom>
          <a:ln w="0">
            <a:noFill/>
          </a:ln>
        </p:spPr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10280" y="4925520"/>
            <a:ext cx="5682960" cy="4029480"/>
          </a:xfrm>
          <a:prstGeom prst="rect">
            <a:avLst/>
          </a:prstGeom>
          <a:noFill/>
          <a:ln w="0">
            <a:noFill/>
          </a:ln>
        </p:spPr>
        <p:txBody>
          <a:bodyPr lIns="95400" tIns="47880" rIns="95400" bIns="4788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sldNum" idx="23"/>
          </p:nvPr>
        </p:nvSpPr>
        <p:spPr>
          <a:xfrm>
            <a:off x="4024080" y="9721080"/>
            <a:ext cx="3078000" cy="513000"/>
          </a:xfrm>
          <a:prstGeom prst="rect">
            <a:avLst/>
          </a:prstGeom>
          <a:noFill/>
          <a:ln w="0">
            <a:noFill/>
          </a:ln>
        </p:spPr>
        <p:txBody>
          <a:bodyPr lIns="95400" tIns="47880" rIns="95400" bIns="4788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CH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6ADBCF-9B5B-4F8B-8968-155D2B449BF0}" type="slidenum">
              <a:rPr lang="de-CH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690920"/>
            <a:ext cx="9143640" cy="200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de-DE" sz="6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de-DE" sz="6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Mastertitelformat bearbeiten</a:t>
            </a:r>
            <a:endParaRPr lang="de-CH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pic>
        <p:nvPicPr>
          <p:cNvPr id="3" name="Grafik 3"/>
          <p:cNvPicPr/>
          <p:nvPr/>
        </p:nvPicPr>
        <p:blipFill>
          <a:blip r:embed="rId2"/>
          <a:stretch/>
        </p:blipFill>
        <p:spPr>
          <a:xfrm>
            <a:off x="7232040" y="340920"/>
            <a:ext cx="4433040" cy="56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66435F-36F3-46F2-A9E7-186F52440E68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CH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CH" sz="2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CH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CH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CH" sz="2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CH" sz="2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outline text format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CH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Second Outline Level</a:t>
            </a:r>
            <a:endParaRPr lang="de-CH" sz="2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CH" sz="2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Third Outline Level</a:t>
            </a:r>
            <a:endParaRPr lang="de-CH" sz="2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CH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Fourth Outline Level</a:t>
            </a:r>
            <a:endParaRPr lang="de-CH" sz="1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CH" sz="1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Fifth Outline Level</a:t>
            </a:r>
            <a:endParaRPr lang="de-CH" sz="1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CH" sz="2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Sixth Outline Level</a:t>
            </a:r>
            <a:endParaRPr lang="de-CH" sz="2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CH" sz="2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Seventh Outline Level</a:t>
            </a:r>
            <a:endParaRPr lang="de-CH" sz="2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und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39640" y="365040"/>
            <a:ext cx="10814040" cy="786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de-DE" sz="3200" b="0" u="none" strike="noStrike">
                <a:solidFill>
                  <a:srgbClr val="17344D"/>
                </a:solidFill>
                <a:effectLst/>
                <a:uFillTx/>
                <a:latin typeface="Calibri Light"/>
                <a:ea typeface="Arial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de-DE" sz="3200" b="0" u="none" strike="noStrike">
                <a:solidFill>
                  <a:srgbClr val="17344D"/>
                </a:solidFill>
                <a:effectLst/>
                <a:uFillTx/>
                <a:latin typeface="Calibri Light"/>
                <a:ea typeface="Arial"/>
              </a:rPr>
              <a:t>Mastertitelformat bearbeiten</a:t>
            </a:r>
            <a:endParaRPr lang="de-CH" sz="3200" b="0" u="none" strike="noStrike">
              <a:solidFill>
                <a:srgbClr val="17344D"/>
              </a:solidFill>
              <a:effectLst/>
              <a:uFillTx/>
              <a:latin typeface="Calibri Light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39640" y="1627560"/>
            <a:ext cx="11205720" cy="4754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Mastertextformat bearbeiten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Zweite Ebene</a:t>
            </a:r>
            <a:endParaRPr lang="de-CH" sz="2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Dritte Ebene</a:t>
            </a:r>
            <a:endParaRPr lang="de-CH" sz="2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Vierte Ebene</a:t>
            </a:r>
            <a:endParaRPr lang="de-CH" sz="1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Fünfte Ebene</a:t>
            </a:r>
            <a:endParaRPr lang="de-CH" sz="1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pic>
        <p:nvPicPr>
          <p:cNvPr id="10" name="Grafik 4"/>
          <p:cNvPicPr/>
          <p:nvPr/>
        </p:nvPicPr>
        <p:blipFill>
          <a:blip r:embed="rId2"/>
          <a:stretch/>
        </p:blipFill>
        <p:spPr>
          <a:xfrm>
            <a:off x="8945280" y="365040"/>
            <a:ext cx="2857320" cy="3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PlaceHolder 3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FCFE3E-33CC-4CFD-94CB-4084AAD297B1}" type="slidenum">
              <a:rPr lang="en-GB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CH" sz="44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Urner MCP-Server</a:t>
            </a:r>
            <a:endParaRPr lang="de-CH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1523880" y="416160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CH" sz="24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Lokales Wissen für die KI von morgen</a:t>
            </a:r>
            <a:endParaRPr lang="de-CH" sz="2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Hackdays Uri 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39640" y="365040"/>
            <a:ext cx="10814040" cy="786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CH" sz="3200" b="0" u="none" strike="noStrike">
                <a:solidFill>
                  <a:srgbClr val="17344D"/>
                </a:solidFill>
                <a:effectLst/>
                <a:uFillTx/>
                <a:latin typeface="Calibri Light"/>
                <a:ea typeface="Arial"/>
              </a:rPr>
              <a:t>Was?</a:t>
            </a:r>
            <a:endParaRPr lang="de-CH" sz="3200" b="0" u="none" strike="noStrike">
              <a:solidFill>
                <a:srgbClr val="17344D"/>
              </a:solidFill>
              <a:effectLst/>
              <a:uFillTx/>
              <a:latin typeface="Calibri Light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39640" y="1627560"/>
            <a:ext cx="11205720" cy="4754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Ziel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CH" sz="2800" b="1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Schnittstelle</a:t>
            </a: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 für KI-Modelle schaffen, um auf </a:t>
            </a:r>
            <a:r>
              <a:rPr lang="de-CH" sz="2800" b="1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aktuelle Urner Informationen </a:t>
            </a: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zuzugreifen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CH" sz="1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Beispiele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Abfallkalender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das Kinoprogramm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offizielle Regierungsmitteilungen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etc.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Hackdays Uri 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39640" y="365040"/>
            <a:ext cx="10814040" cy="786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CH" sz="3200" b="0" u="none" strike="noStrike">
                <a:solidFill>
                  <a:srgbClr val="17344D"/>
                </a:solidFill>
                <a:effectLst/>
                <a:uFillTx/>
                <a:latin typeface="Calibri Light"/>
                <a:ea typeface="Arial"/>
              </a:rPr>
              <a:t>Warum?</a:t>
            </a:r>
            <a:endParaRPr lang="de-CH" sz="3200" b="0" u="none" strike="noStrike">
              <a:solidFill>
                <a:srgbClr val="17344D"/>
              </a:solidFill>
              <a:effectLst/>
              <a:uFillTx/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39640" y="1627560"/>
            <a:ext cx="11205720" cy="4754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Das Problem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Bei lokalen Themen </a:t>
            </a:r>
            <a:r>
              <a:rPr lang="de-CH" sz="2800" b="1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halluzinieren</a:t>
            </a: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 KI-Modelle oft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Im Training der KI-Modelle wurden </a:t>
            </a:r>
            <a:r>
              <a:rPr lang="de-CH" sz="2800" b="1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veraltete</a:t>
            </a: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 Daten genutzt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CH" sz="2800" b="1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Web-Suche</a:t>
            </a: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 findet die richtigen Informationen nicht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CH" sz="1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Die Lösung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Der Urner MCP-Server soll die </a:t>
            </a:r>
            <a:r>
              <a:rPr lang="de-CH" sz="2800" b="1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Brücke</a:t>
            </a: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 zwischen Urner Datenquellen und KI-Modellen schlagen.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ftr" idx="1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Hackdays Uri 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39640" y="365040"/>
            <a:ext cx="10814040" cy="786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CH" sz="3200" b="0" u="none" strike="noStrike">
                <a:solidFill>
                  <a:srgbClr val="17344D"/>
                </a:solidFill>
                <a:effectLst/>
                <a:uFillTx/>
                <a:latin typeface="Calibri Light"/>
                <a:ea typeface="Arial"/>
              </a:rPr>
              <a:t>Ressourcen und Hilfsmittel</a:t>
            </a:r>
            <a:endParaRPr lang="de-CH" sz="3200" b="0" u="none" strike="noStrike">
              <a:solidFill>
                <a:srgbClr val="17344D"/>
              </a:solidFill>
              <a:effectLst/>
              <a:uFillTx/>
              <a:latin typeface="Calibri Ligh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39640" y="1627560"/>
            <a:ext cx="11205720" cy="5020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Technologie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Model Context Protokoll (MCP)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CH" sz="1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Datenquellen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News/RSS-Feeds (Zeitungen, Kanton Uri)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Open-Data-Portale (opendata.swiss)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Web-Scraping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etc.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CH" sz="11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Tools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MCP-fähige KI-Clients und MCP SDKs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Hackdays Uri 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39640" y="365040"/>
            <a:ext cx="10814040" cy="786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CH" sz="3200" b="0" u="none" strike="noStrike">
                <a:solidFill>
                  <a:srgbClr val="17344D"/>
                </a:solidFill>
                <a:effectLst/>
                <a:uFillTx/>
                <a:latin typeface="Calibri Light"/>
                <a:ea typeface="Arial"/>
              </a:rPr>
              <a:t>Erwartungen</a:t>
            </a:r>
            <a:endParaRPr lang="de-CH" sz="3200" b="0" u="none" strike="noStrike">
              <a:solidFill>
                <a:srgbClr val="17344D"/>
              </a:solidFill>
              <a:effectLst/>
              <a:uFillTx/>
              <a:latin typeface="Calibri Light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39640" y="1627560"/>
            <a:ext cx="11205720" cy="4754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Konzept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Welche Datenquellen sind in Uri verfügbar und wie können diese konsolidiert werden?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Welche Möglichkeiten gibt es, den MCP-Server auch für Aktionen zu nutzen?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CH" sz="1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PoC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Ein funktionierender MCP-Server, der eine lokale Datenquelle via KI-Chat abfragbar macht.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Hackdays Uri 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39640" y="365040"/>
            <a:ext cx="10814040" cy="786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CH" sz="3200" b="0" u="none" strike="noStrike">
                <a:solidFill>
                  <a:srgbClr val="17344D"/>
                </a:solidFill>
                <a:effectLst/>
                <a:uFillTx/>
                <a:latin typeface="Calibri Light"/>
                <a:ea typeface="Arial"/>
              </a:rPr>
              <a:t>Outlook</a:t>
            </a:r>
            <a:endParaRPr lang="de-CH" sz="3200" b="0" u="none" strike="noStrike">
              <a:solidFill>
                <a:srgbClr val="17344D"/>
              </a:solidFill>
              <a:effectLst/>
              <a:uFillTx/>
              <a:latin typeface="Calibri Light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39640" y="1627560"/>
            <a:ext cx="11205720" cy="4754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Dieser Server könnte der Grundstein für einen "Urner AI-Hub" sein. Unternehmen, Gemeinden oder Tourismusorganisationen könnten ihre Daten über diesen Standard sicher und einfach für KI-Assistenten bereitstellen.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1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Hackdays Uri 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39640" y="365040"/>
            <a:ext cx="10814040" cy="786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de-CH" sz="3200" b="0" u="none" strike="noStrike">
                <a:solidFill>
                  <a:srgbClr val="17344D"/>
                </a:solidFill>
                <a:effectLst/>
                <a:uFillTx/>
                <a:latin typeface="Calibri Light"/>
                <a:ea typeface="Arial"/>
              </a:rPr>
              <a:t>Callenge Owner</a:t>
            </a:r>
            <a:endParaRPr lang="de-CH" sz="3200" b="0" u="none" strike="noStrike">
              <a:solidFill>
                <a:srgbClr val="17344D"/>
              </a:solidFill>
              <a:effectLst/>
              <a:uFillTx/>
              <a:latin typeface="Calibri Light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539640" y="1627560"/>
            <a:ext cx="11205720" cy="4754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Claudio Spizzi</a:t>
            </a:r>
            <a:br>
              <a:rPr sz="2800"/>
            </a:br>
            <a:r>
              <a:rPr lang="de-CH" sz="2800" b="0" u="none" strike="noStrike">
                <a:solidFill>
                  <a:schemeClr val="dk1"/>
                </a:solidFill>
                <a:effectLst/>
                <a:uFillTx/>
                <a:latin typeface="Calibri Light"/>
                <a:ea typeface="Arial"/>
              </a:rPr>
              <a:t>digital cluster uri</a:t>
            </a:r>
            <a:endParaRPr lang="de-CH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  <a:ea typeface="Arial"/>
              </a:rPr>
              <a:t>Hackdays Uri 2026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Arial" pitchFamily="0" charset="1"/>
        <a:cs typeface="Arial" pitchFamily="0" charset="1"/>
      </a:majorFont>
      <a:minorFont>
        <a:latin typeface="Calibri" pitchFamily="0" charset="1"/>
        <a:ea typeface="Arial" pitchFamily="0" charset="1"/>
        <a:cs typeface="Arial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Collabora_Office/25.04.9.2$Linux_X86_64 LibreOffice_project/e3742eddf280d42763de19c0fc29178a4d24c7e7</Application>
  <AppVersion>15.0000</AppVersion>
  <Words>215</Words>
  <Paragraphs>56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2019-01-30T08:10:43Z</dcterms:created>
  <dc:creator>Tom Kleiber</dc:creator>
  <dc:description/>
  <dc:language>en-US</dc:language>
  <cp:lastModifiedBy/>
  <dcterms:modified xsi:type="dcterms:W3CDTF">2026-03-26T20:12:51Z</dcterms:modified>
  <cp:revision>201</cp:revision>
  <dc:subject/>
  <dc:title>kjshdickhda yxcc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Widescreen</vt:lpwstr>
  </property>
  <property fmtid="{D5CDD505-2E9C-101B-9397-08002B2CF9AE}" pid="4" name="Slides">
    <vt:i4>7</vt:i4>
  </property>
</Properties>
</file>